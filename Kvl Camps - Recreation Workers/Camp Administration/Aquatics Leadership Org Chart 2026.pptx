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5631"/>
                </a:solidFill>
              </a:rPr>
              <a:t>KVL Camps - Aquatics Leadership Org Chart - 2026 Season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83280" y="822960"/>
            <a:ext cx="2377440" cy="640080"/>
          </a:xfrm>
          <a:prstGeom prst="roundRect">
            <a:avLst/>
          </a:prstGeom>
          <a:solidFill>
            <a:srgbClr val="E8F0E8"/>
          </a:solidFill>
          <a:ln w="15240"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100" b="1">
                <a:latin typeface="Segoe UI"/>
              </a:rPr>
              <a:t>Executive Director</a:t>
            </a:r>
          </a:p>
          <a:p>
            <a:r>
              <a:rPr sz="1100" b="1">
                <a:latin typeface="Segoe UI"/>
              </a:rPr>
              <a:t>Harold J. Brennan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377440" cy="731520"/>
          </a:xfrm>
          <a:prstGeom prst="roundRect">
            <a:avLst/>
          </a:prstGeom>
          <a:solidFill>
            <a:srgbClr val="E8F0E8"/>
          </a:solidFill>
          <a:ln w="15240"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100" b="0">
                <a:latin typeface="Segoe UI"/>
              </a:rPr>
              <a:t>Director of Risk and Compliance</a:t>
            </a:r>
          </a:p>
          <a:p>
            <a:r>
              <a:rPr sz="1100" b="0">
                <a:latin typeface="Segoe UI"/>
              </a:rPr>
              <a:t>Priya Natarajan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828800"/>
            <a:ext cx="2377440" cy="731520"/>
          </a:xfrm>
          <a:prstGeom prst="roundRect">
            <a:avLst/>
          </a:prstGeom>
          <a:solidFill>
            <a:srgbClr val="E8F0E8"/>
          </a:solidFill>
          <a:ln w="15240"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100" b="0">
                <a:latin typeface="Segoe UI"/>
              </a:rPr>
              <a:t>Director of Aquatics Standards</a:t>
            </a:r>
          </a:p>
          <a:p>
            <a:r>
              <a:rPr sz="1100" b="0">
                <a:latin typeface="Segoe UI"/>
              </a:rPr>
              <a:t>Raquel I. Delgado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2377440" cy="731520"/>
          </a:xfrm>
          <a:prstGeom prst="roundRect">
            <a:avLst/>
          </a:prstGeom>
          <a:solidFill>
            <a:srgbClr val="E8F0E8"/>
          </a:solidFill>
          <a:ln w="15240"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100" b="0">
                <a:latin typeface="Segoe UI"/>
              </a:rPr>
              <a:t>Camp Director, Corrigwell</a:t>
            </a:r>
          </a:p>
          <a:p>
            <a:r>
              <a:rPr sz="1100" b="0">
                <a:latin typeface="Segoe UI"/>
              </a:rPr>
              <a:t>Joseph R. Almeida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1828800" y="1463040"/>
            <a:ext cx="2743200" cy="365760"/>
          </a:xfrm>
          <a:prstGeom prst="line">
            <a:avLst/>
          </a:prstGeom>
          <a:ln w="15240">
            <a:solidFill>
              <a:srgbClr val="1E56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1463040"/>
            <a:ext cx="0" cy="365760"/>
          </a:xfrm>
          <a:prstGeom prst="line">
            <a:avLst/>
          </a:prstGeom>
          <a:ln w="15240">
            <a:solidFill>
              <a:srgbClr val="1E56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0" y="1463040"/>
            <a:ext cx="2743200" cy="365760"/>
          </a:xfrm>
          <a:prstGeom prst="line">
            <a:avLst/>
          </a:prstGeom>
          <a:ln w="15240">
            <a:solidFill>
              <a:srgbClr val="1E56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2926080"/>
            <a:ext cx="2011680" cy="731520"/>
          </a:xfrm>
          <a:prstGeom prst="roundRect">
            <a:avLst/>
          </a:prstGeom>
          <a:solidFill>
            <a:srgbClr val="E8F0E8"/>
          </a:solidFill>
          <a:ln w="15240"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100" b="0">
                <a:latin typeface="Segoe UI"/>
              </a:rPr>
              <a:t>Waterfront Director</a:t>
            </a:r>
          </a:p>
          <a:p>
            <a:r>
              <a:rPr sz="1100" b="0">
                <a:latin typeface="Segoe UI"/>
              </a:rPr>
              <a:t>Carmen P. Yee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2926080"/>
            <a:ext cx="2011680" cy="731520"/>
          </a:xfrm>
          <a:prstGeom prst="roundRect">
            <a:avLst/>
          </a:prstGeom>
          <a:solidFill>
            <a:srgbClr val="E8F0E8"/>
          </a:solidFill>
          <a:ln w="15240"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100" b="0">
                <a:latin typeface="Segoe UI"/>
              </a:rPr>
              <a:t>Aquatics Supervisor</a:t>
            </a:r>
          </a:p>
          <a:p>
            <a:r>
              <a:rPr sz="1100" b="0">
                <a:latin typeface="Segoe UI"/>
              </a:rPr>
              <a:t>Martin T. Eberly</a:t>
            </a:r>
          </a:p>
          <a:p>
            <a:r>
              <a:rPr sz="1100" b="0">
                <a:latin typeface="Segoe UI"/>
              </a:rPr>
              <a:t>(program oversight)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931920" y="2560320"/>
            <a:ext cx="640080" cy="365760"/>
          </a:xfrm>
          <a:prstGeom prst="line">
            <a:avLst/>
          </a:prstGeom>
          <a:ln w="15240">
            <a:solidFill>
              <a:srgbClr val="1E56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309360" y="2560320"/>
            <a:ext cx="1005840" cy="365760"/>
          </a:xfrm>
          <a:prstGeom prst="line">
            <a:avLst/>
          </a:prstGeom>
          <a:ln w="15240">
            <a:solidFill>
              <a:srgbClr val="1E56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0080" y="2926080"/>
            <a:ext cx="2194560" cy="731520"/>
          </a:xfrm>
          <a:prstGeom prst="roundRect">
            <a:avLst/>
          </a:prstGeom>
          <a:solidFill>
            <a:srgbClr val="E8F0E8"/>
          </a:solidFill>
          <a:ln w="15240"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100" b="0">
                <a:latin typeface="Segoe UI"/>
              </a:rPr>
              <a:t>Staffing and HR Coordinator</a:t>
            </a:r>
          </a:p>
          <a:p>
            <a:r>
              <a:rPr sz="1100" b="0">
                <a:latin typeface="Segoe UI"/>
              </a:rPr>
              <a:t>Lindsay M. Booker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737360" y="2560320"/>
            <a:ext cx="5577840" cy="365760"/>
          </a:xfrm>
          <a:prstGeom prst="line">
            <a:avLst/>
          </a:prstGeom>
          <a:ln w="15240">
            <a:solidFill>
              <a:srgbClr val="1E56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74320" y="4206240"/>
            <a:ext cx="1737360" cy="685800"/>
          </a:xfrm>
          <a:prstGeom prst="roundRect">
            <a:avLst/>
          </a:prstGeom>
          <a:solidFill>
            <a:srgbClr val="E8F0E8"/>
          </a:solidFill>
          <a:ln w="15240"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900" b="0">
                <a:latin typeface="Segoe UI"/>
              </a:rPr>
              <a:t>Waterfront Director</a:t>
            </a:r>
          </a:p>
          <a:p>
            <a:r>
              <a:rPr sz="900" b="0">
                <a:latin typeface="Segoe UI"/>
              </a:rPr>
              <a:t>Loon Hollow</a:t>
            </a:r>
          </a:p>
          <a:p>
            <a:r>
              <a:rPr sz="900" b="0">
                <a:latin typeface="Segoe UI"/>
              </a:rPr>
              <a:t>Dana Kessler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143000" y="2560320"/>
            <a:ext cx="3429000" cy="1645920"/>
          </a:xfrm>
          <a:prstGeom prst="line">
            <a:avLst/>
          </a:prstGeom>
          <a:ln w="15240">
            <a:solidFill>
              <a:srgbClr val="1E56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148840" y="4206240"/>
            <a:ext cx="1737360" cy="685800"/>
          </a:xfrm>
          <a:prstGeom prst="roundRect">
            <a:avLst/>
          </a:prstGeom>
          <a:solidFill>
            <a:srgbClr val="E8F0E8"/>
          </a:solidFill>
          <a:ln w="15240"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900" b="0">
                <a:latin typeface="Segoe UI"/>
              </a:rPr>
              <a:t>Waterfront Director</a:t>
            </a:r>
          </a:p>
          <a:p>
            <a:r>
              <a:rPr sz="900" b="0">
                <a:latin typeface="Segoe UI"/>
              </a:rPr>
              <a:t>Tamarack Ridge</a:t>
            </a:r>
          </a:p>
          <a:p>
            <a:r>
              <a:rPr sz="900" b="0">
                <a:latin typeface="Segoe UI"/>
              </a:rPr>
              <a:t>Rob Tiernan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3017520" y="2560320"/>
            <a:ext cx="1554480" cy="1645920"/>
          </a:xfrm>
          <a:prstGeom prst="line">
            <a:avLst/>
          </a:prstGeom>
          <a:ln w="15240">
            <a:solidFill>
              <a:srgbClr val="1E56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23360" y="4206240"/>
            <a:ext cx="1737360" cy="685800"/>
          </a:xfrm>
          <a:prstGeom prst="roundRect">
            <a:avLst/>
          </a:prstGeom>
          <a:solidFill>
            <a:srgbClr val="E8F0E8"/>
          </a:solidFill>
          <a:ln w="15240"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900" b="0">
                <a:latin typeface="Segoe UI"/>
              </a:rPr>
              <a:t>Waterfront Director</a:t>
            </a:r>
          </a:p>
          <a:p>
            <a:r>
              <a:rPr sz="900" b="0">
                <a:latin typeface="Segoe UI"/>
              </a:rPr>
              <a:t>Bluegill Point</a:t>
            </a:r>
          </a:p>
          <a:p>
            <a:r>
              <a:rPr sz="900" b="0">
                <a:latin typeface="Segoe UI"/>
              </a:rPr>
              <a:t>Alicia Mora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0" y="2560320"/>
            <a:ext cx="320040" cy="1645920"/>
          </a:xfrm>
          <a:prstGeom prst="line">
            <a:avLst/>
          </a:prstGeom>
          <a:ln w="15240">
            <a:solidFill>
              <a:srgbClr val="1E56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897880" y="4206240"/>
            <a:ext cx="1737360" cy="685800"/>
          </a:xfrm>
          <a:prstGeom prst="roundRect">
            <a:avLst/>
          </a:prstGeom>
          <a:solidFill>
            <a:srgbClr val="E8F0E8"/>
          </a:solidFill>
          <a:ln w="15240"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900" b="0">
                <a:latin typeface="Segoe UI"/>
              </a:rPr>
              <a:t>Waterfront Director</a:t>
            </a:r>
          </a:p>
          <a:p>
            <a:r>
              <a:rPr sz="900" b="0">
                <a:latin typeface="Segoe UI"/>
              </a:rPr>
              <a:t>Heron Landing</a:t>
            </a:r>
          </a:p>
          <a:p>
            <a:r>
              <a:rPr sz="900" b="0">
                <a:latin typeface="Segoe UI"/>
              </a:rPr>
              <a:t>Sam Treadwell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72000" y="2560320"/>
            <a:ext cx="2194560" cy="1645920"/>
          </a:xfrm>
          <a:prstGeom prst="line">
            <a:avLst/>
          </a:prstGeom>
          <a:ln w="15240">
            <a:solidFill>
              <a:srgbClr val="1E56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772400" y="4206240"/>
            <a:ext cx="1737360" cy="685800"/>
          </a:xfrm>
          <a:prstGeom prst="roundRect">
            <a:avLst/>
          </a:prstGeom>
          <a:solidFill>
            <a:srgbClr val="E8F0E8"/>
          </a:solidFill>
          <a:ln w="15240">
            <a:solidFill>
              <a:srgbClr val="1E5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900" b="0">
                <a:latin typeface="Segoe UI"/>
              </a:rPr>
              <a:t>Waterfront Director</a:t>
            </a:r>
          </a:p>
          <a:p>
            <a:r>
              <a:rPr sz="900" b="0">
                <a:latin typeface="Segoe UI"/>
              </a:rPr>
              <a:t>Otter Run</a:t>
            </a:r>
          </a:p>
          <a:p>
            <a:r>
              <a:rPr sz="900" b="0">
                <a:latin typeface="Segoe UI"/>
              </a:rPr>
              <a:t>Kim Ostrander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0" y="2560320"/>
            <a:ext cx="4069080" cy="1645920"/>
          </a:xfrm>
          <a:prstGeom prst="line">
            <a:avLst/>
          </a:prstGeom>
          <a:ln w="15240">
            <a:solidFill>
              <a:srgbClr val="1E56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65760" y="5303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Swim-ability assessment sign-off at Corrigwell is assigned to assessment-authorized staff (WSI/LGI/LG-WF) under the Waterfront Director, per the credential-track authorization matrix. The Aquatics Supervisor role is program oversight: scheduling, supply, and guard supervision. Chart as of 2026-07-01.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