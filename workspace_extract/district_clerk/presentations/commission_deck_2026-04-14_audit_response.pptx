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5631"/>
                </a:solidFill>
                <a:latin typeface="Palatino Linotype"/>
              </a:rPr>
              <a:t>State Performance Audit — District Response Status</a:t>
            </a:r>
          </a:p>
          <a:p>
            <a:r>
              <a:rPr sz="2000">
                <a:latin typeface="Book Antiqua"/>
              </a:rPr>
              <a:t>Regular meeting of the Board of Harbor Commissioners · 14 April 2026 · Agenda Item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Palatino Linotype"/>
              </a:rPr>
              <a:t>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Book Antiqua"/>
              </a:rPr>
              <a:t>• State Performance Audit Office, engagement PE-2025-014</a:t>
            </a:r>
          </a:p>
          <a:p>
            <a:pPr/>
            <a:r>
              <a:rPr sz="1700">
                <a:latin typeface="Book Antiqua"/>
              </a:rPr>
              <a:t>• Fieldwork began 2025-01-01; window January 2022 – August 2026</a:t>
            </a:r>
          </a:p>
          <a:p>
            <a:pPr/>
            <a:r>
              <a:rPr sz="1700">
                <a:latin typeface="Book Antiqua"/>
              </a:rPr>
              <a:t>• Three objectives: rank order, amendment support, skip file 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Palatino Linotype"/>
              </a:rPr>
              <a:t>Populations (arithmetic agreed)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Book Antiqua"/>
              </a:rPr>
              <a:t>• 1,486 offer events; 412 skip events</a:t>
            </a:r>
          </a:p>
          <a:p>
            <a:pPr/>
            <a:r>
              <a:rPr sz="1700">
                <a:latin typeface="Book Antiqua"/>
              </a:rPr>
              <a:t>• 2,244 amendment rows (all logged at workstation HB-COUNTER-2)</a:t>
            </a:r>
          </a:p>
          <a:p>
            <a:pPr/>
            <a:r>
              <a:rPr sz="1700">
                <a:latin typeface="Book Antiqua"/>
              </a:rPr>
              <a:t>• 46,800 billing lines; 2,910 applicants; 1,180 slips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Palatino Linotype"/>
              </a:rPr>
              <a:t>Exception Schedule (2025-Q4)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Book Antiqua"/>
              </a:rPr>
              <a:t>• 41 out-of-turn assignment items</a:t>
            </a:r>
          </a:p>
          <a:p>
            <a:pPr/>
            <a:r>
              <a:rPr sz="1700">
                <a:latin typeface="Book Antiqua"/>
              </a:rPr>
              <a:t>• 88 amendment-related items</a:t>
            </a:r>
          </a:p>
          <a:p>
            <a:pPr/>
            <a:r>
              <a:rPr sz="1700">
                <a:latin typeface="Book Antiqua"/>
              </a:rPr>
              <a:t>• District draft response filed 2026-Q1 within the 30-day window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Palatino Linotype"/>
              </a:rPr>
              <a:t>Response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Book Antiqua"/>
              </a:rPr>
              <a:t>• Agreement with the auditor's arithmetic on all counts</a:t>
            </a:r>
          </a:p>
          <a:p>
            <a:pPr/>
            <a:r>
              <a:rPr sz="1700">
                <a:latin typeface="Book Antiqua"/>
              </a:rPr>
              <a:t>• All 41 items clear under Schedule C and the day-worked record (Appeal 2018-3)</a:t>
            </a:r>
          </a:p>
          <a:p>
            <a:pPr/>
            <a:r>
              <a:rPr sz="1700">
                <a:latin typeface="Book Antiqua"/>
              </a:rPr>
              <a:t>• All 88 items clear under Resolution 2022-06 section 4.3, applied prospectively (s.4.4)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Palatino Linotype"/>
              </a:rPr>
              <a:t>Residual Exposure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Book Antiqua"/>
              </a:rPr>
              <a:t>• Four cover-sheet-only skip files: WL-02211, WL-02618, WL-03044, WL-03390</a:t>
            </a:r>
          </a:p>
          <a:p>
            <a:pPr/>
            <a:r>
              <a:rPr sz="1700">
                <a:latin typeface="Book Antiqua"/>
              </a:rPr>
              <a:t>• Merits corroborated for three; one applicant unreachable</a:t>
            </a:r>
          </a:p>
          <a:p>
            <a:pPr/>
            <a:r>
              <a:rPr sz="1700">
                <a:latin typeface="Book Antiqua"/>
              </a:rPr>
              <a:t>• Addressed individually in the response; corrective actions adopted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Palatino Linotype"/>
              </a:rPr>
              <a:t>Calibration Session (2025-Q3)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Book Antiqua"/>
              </a:rPr>
              <a:t>• 40 files scored: 28 flagged + 12 random (of 604 remaining)</a:t>
            </a:r>
          </a:p>
          <a:p>
            <a:pPr/>
            <a:r>
              <a:rPr sz="1700">
                <a:latin typeface="Book Antiqua"/>
              </a:rPr>
              <a:t>• 120 individual scores; 31 unanimous first pass; 9 disagreements resolved second pass</a:t>
            </a:r>
          </a:p>
          <a:p>
            <a:pPr/>
            <a:r>
              <a:rPr sz="1700">
                <a:latin typeface="Book Antiqua"/>
              </a:rPr>
              <a:t>• Random 12 all complete — exposure sits in the flagged stratum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Palatino Linotype"/>
              </a:rPr>
              <a:t>Staff Hours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Book Antiqua"/>
              </a:rPr>
              <a:t>• 227 hours on the out-of-turn assignment test workpapers</a:t>
            </a:r>
          </a:p>
          <a:p>
            <a:pPr/>
            <a:r>
              <a:rPr sz="1700">
                <a:latin typeface="Book Antiqua"/>
              </a:rPr>
              <a:t>• 19 hours on the amendment log review</a:t>
            </a:r>
          </a:p>
          <a:p>
            <a:pPr/>
            <a:r>
              <a:rPr sz="1700">
                <a:latin typeface="Book Antiqua"/>
              </a:rPr>
              <a:t>• 246 hours total on the two test areas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Palatino Linotype"/>
              </a:rPr>
              <a:t>Systems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Book Antiqua"/>
              </a:rPr>
              <a:t>• Amendment screen logs workstation only; nine staff share HB-COUNTER-2</a:t>
            </a:r>
          </a:p>
          <a:p>
            <a:pPr/>
            <a:r>
              <a:rPr sz="1700">
                <a:latin typeface="Book Antiqua"/>
              </a:rPr>
              <a:t>• CR-0412 open since 2021, unfunded; migration deferral in effect</a:t>
            </a:r>
          </a:p>
          <a:p>
            <a:pPr/>
            <a:r>
              <a:rPr sz="1700">
                <a:latin typeface="Book Antiqua"/>
              </a:rPr>
              <a:t>• Commission direction: fund CR-0412 in the 2027 budget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Palatino Linotype"/>
              </a:rPr>
              <a:t>Corrective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Book Antiqua"/>
              </a:rPr>
              <a:t>• Fund CR-0412 (2027 budget); monthly register/day-log review continues</a:t>
            </a:r>
          </a:p>
          <a:p>
            <a:pPr/>
            <a:r>
              <a:rPr sz="1700">
                <a:latin typeface="Book Antiqua"/>
              </a:rPr>
              <a:t>• 2025 counter training cycle complete: reason codes + measurement at check-in</a:t>
            </a:r>
          </a:p>
          <a:p>
            <a:pPr/>
            <a:r>
              <a:rPr sz="1700">
                <a:latin typeface="Book Antiqua"/>
              </a:rPr>
              <a:t>• Quarterly skip-file report to the Commission</a:t>
            </a:r>
          </a:p>
          <a:p>
            <a:pPr/>
            <a:r>
              <a:rPr sz="1700">
                <a:latin typeface="Book Antiqua"/>
              </a:rPr>
              <a:t>• Residual four files flagged; 2026 confirmations carry documentation notice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Palatino Linotype"/>
              </a:rP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Book Antiqua"/>
              </a:rPr>
              <a:t>• Response appendices in circulation</a:t>
            </a:r>
          </a:p>
          <a:p>
            <a:pPr/>
            <a:r>
              <a:rPr sz="1700">
                <a:latin typeface="Book Antiqua"/>
              </a:rPr>
              <a:t>• Request-list items closing on the 5-day supply schedule</a:t>
            </a:r>
          </a:p>
          <a:p>
            <a:pPr/>
            <a:r>
              <a:rPr sz="1700">
                <a:latin typeface="Book Antiqua"/>
              </a:rPr>
              <a:t>• Final audit report activities run through 20 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