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E5631"/>
                </a:solidFill>
                <a:latin typeface="Arial"/>
              </a:rPr>
              <a:t>Moorage Counter Training — 2025 Cycle</a:t>
            </a:r>
          </a:p>
          <a:p>
            <a:r>
              <a:rPr sz="2000">
                <a:latin typeface="Consolas"/>
              </a:rPr>
              <a:t>Reason codes, measurement at check-in, and file discipline · P. Chandran · May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5631"/>
                </a:solidFill>
                <a:latin typeface="Arial"/>
              </a:rPr>
              <a:t>Why We Are 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latin typeface="Consolas"/>
              </a:rPr>
              <a:t>• The register is the District's memory; the day log is its handwriting</a:t>
            </a:r>
          </a:p>
          <a:p>
            <a:pPr/>
            <a:r>
              <a:rPr sz="1700">
                <a:latin typeface="Consolas"/>
              </a:rPr>
              <a:t>• Every skip gets a file, assembled the day the slip is worked</a:t>
            </a:r>
          </a:p>
          <a:p>
            <a:pPr/>
            <a:r>
              <a:rPr sz="1700">
                <a:latin typeface="Consolas"/>
              </a:rPr>
              <a:t>• The file as it stood when the slip was worked is the whole inquiry (Appeal 2018-3)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5631"/>
                </a:solidFill>
                <a:latin typeface="Arial"/>
              </a:rPr>
              <a:t>The Four Reason Codes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latin typeface="Consolas"/>
              </a:rPr>
              <a:t>• vessel-fit — vessel of record does not fit the vacancy (or &gt; 40 ft for covered)</a:t>
            </a:r>
          </a:p>
          <a:p>
            <a:pPr/>
            <a:r>
              <a:rPr sz="1700">
                <a:latin typeface="Consolas"/>
              </a:rPr>
              <a:t>• not-current — fees, insurance, or registration not current today</a:t>
            </a:r>
          </a:p>
          <a:p>
            <a:pPr/>
            <a:r>
              <a:rPr sz="1700">
                <a:latin typeface="Consolas"/>
              </a:rPr>
              <a:t>• declined-prior-offer — prior offer declined/expired, eligibility not restored</a:t>
            </a:r>
          </a:p>
          <a:p>
            <a:pPr/>
            <a:r>
              <a:rPr sz="1700">
                <a:latin typeface="Consolas"/>
              </a:rPr>
              <a:t>• preference-mismatch — vacancy does not match recorded preferences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5631"/>
                </a:solidFill>
                <a:latin typeface="Arial"/>
              </a:rPr>
              <a:t>vessel-fit —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latin typeface="Consolas"/>
              </a:rPr>
              <a:t>• Attach the recorded particulars printout, not a description from memory</a:t>
            </a:r>
          </a:p>
          <a:p>
            <a:pPr/>
            <a:r>
              <a:rPr sz="1700">
                <a:latin typeface="Consolas"/>
              </a:rPr>
              <a:t>• The register is the vessel of record; rumors are not particulars</a:t>
            </a:r>
          </a:p>
          <a:p>
            <a:pPr/>
            <a:r>
              <a:rPr sz="1700">
                <a:latin typeface="Consolas"/>
              </a:rPr>
              <a:t>• Covered limit is 40 ft; open basins take larger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5631"/>
                </a:solidFill>
                <a:latin typeface="Arial"/>
              </a:rPr>
              <a:t>not-current —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latin typeface="Consolas"/>
              </a:rPr>
              <a:t>• Attach the ledger or register extract showing the deficiency and its date</a:t>
            </a:r>
          </a:p>
          <a:p>
            <a:pPr/>
            <a:r>
              <a:rPr sz="1700">
                <a:latin typeface="Consolas"/>
              </a:rPr>
              <a:t>• If the applicant pays up before the skip is keyed, there is no skip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5631"/>
                </a:solidFill>
                <a:latin typeface="Arial"/>
              </a:rPr>
              <a:t>declined-prior-offer / preference-mismatch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latin typeface="Consolas"/>
              </a:rPr>
              <a:t>• Reference the prior offer by identifier and date</a:t>
            </a:r>
          </a:p>
          <a:p>
            <a:pPr/>
            <a:r>
              <a:rPr sz="1700">
                <a:latin typeface="Consolas"/>
              </a:rPr>
              <a:t>• Check the preference amendment history before keying</a:t>
            </a:r>
          </a:p>
          <a:p>
            <a:pPr/>
            <a:r>
              <a:rPr sz="1700">
                <a:latin typeface="Consolas"/>
              </a:rPr>
              <a:t>• Amended preferences rule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5631"/>
                </a:solidFill>
                <a:latin typeface="Arial"/>
              </a:rPr>
              <a:t>The 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latin typeface="Consolas"/>
              </a:rPr>
              <a:t>• Cover sheet + supporting record + correspondence, in that order</a:t>
            </a:r>
          </a:p>
          <a:p>
            <a:pPr/>
            <a:r>
              <a:rPr sz="1700">
                <a:latin typeface="Consolas"/>
              </a:rPr>
              <a:t>• Support stapled to the cover sheet BEFORE the skip is keyed</a:t>
            </a:r>
          </a:p>
          <a:p>
            <a:pPr/>
            <a:r>
              <a:rPr sz="1700">
                <a:latin typeface="Consolas"/>
              </a:rPr>
              <a:t>• A cover sheet alone is not a file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5631"/>
                </a:solidFill>
                <a:latin typeface="Arial"/>
              </a:rPr>
              <a:t>Measurement at Check-In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latin typeface="Consolas"/>
              </a:rPr>
              <a:t>• Steel rail at the dock; bow fitting to transom edge; vessel afloat at normal load</a:t>
            </a:r>
          </a:p>
          <a:p>
            <a:pPr/>
            <a:r>
              <a:rPr sz="1700">
                <a:latin typeface="Consolas"/>
              </a:rPr>
              <a:t>• Record the measured value; round UP to the nearest foot for billing</a:t>
            </a:r>
          </a:p>
          <a:p>
            <a:pPr/>
            <a:r>
              <a:rPr sz="1700">
                <a:latin typeface="Consolas"/>
              </a:rPr>
              <a:t>• Check the rail calibration tag first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5631"/>
                </a:solidFill>
                <a:latin typeface="Arial"/>
              </a:rPr>
              <a:t>Length Amendments (Res. 2022-06 s.4.3)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latin typeface="Consolas"/>
              </a:rPr>
              <a:t>• Certificate or haul-out measurement sheet on file BEFORE the length is used</a:t>
            </a:r>
          </a:p>
          <a:p>
            <a:pPr/>
            <a:r>
              <a:rPr sz="1700">
                <a:latin typeface="Consolas"/>
              </a:rPr>
              <a:t>• Applicant's own tape measure is not support</a:t>
            </a:r>
          </a:p>
          <a:p>
            <a:pPr/>
            <a:r>
              <a:rPr sz="1700">
                <a:latin typeface="Consolas"/>
              </a:rPr>
              <a:t>• Foldview Marine Services does haul-out measurements and knows the form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5631"/>
                </a:solidFill>
                <a:latin typeface="Arial"/>
              </a:rPr>
              <a:t>Foot-Month in One Slide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latin typeface="Consolas"/>
              </a:rPr>
              <a:t>• Charge = billable length (ft) × months billed</a:t>
            </a:r>
          </a:p>
          <a:p>
            <a:pPr/>
            <a:r>
              <a:rPr sz="1700">
                <a:latin typeface="Consolas"/>
              </a:rPr>
              <a:t>• Billable length = greater of measured (rounded up) and posted slip length</a:t>
            </a:r>
          </a:p>
          <a:p>
            <a:pPr/>
            <a:r>
              <a:rPr sz="1700">
                <a:latin typeface="Consolas"/>
              </a:rPr>
              <a:t>• Covered $10.40 / open $7.55 per foot-month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5631"/>
                </a:solidFill>
                <a:latin typeface="Arial"/>
              </a:rPr>
              <a:t>The Day Log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latin typeface="Consolas"/>
              </a:rPr>
              <a:t>• Ink, real time, time + initials on every entry</a:t>
            </a:r>
          </a:p>
          <a:p>
            <a:pPr/>
            <a:r>
              <a:rPr sz="1700">
                <a:latin typeface="Consolas"/>
              </a:rPr>
              <a:t>• ‘Worked [slip]’ first, before any offer letter</a:t>
            </a:r>
          </a:p>
          <a:p>
            <a:pPr/>
            <a:r>
              <a:rPr sz="1700">
                <a:latin typeface="Consolas"/>
              </a:rPr>
              <a:t>• Corrections: single line-through, initialed — never erased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5631"/>
                </a:solidFill>
                <a:latin typeface="Arial"/>
              </a:rPr>
              <a:t>HB-COUNTER-2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latin typeface="Consolas"/>
              </a:rPr>
              <a:t>• One terminal, nine people, one session at a time</a:t>
            </a:r>
          </a:p>
          <a:p>
            <a:pPr/>
            <a:r>
              <a:rPr sz="1700">
                <a:latin typeface="Consolas"/>
              </a:rPr>
              <a:t>• The register logs the workstation, not you — the day log is your alibi</a:t>
            </a:r>
          </a:p>
          <a:p>
            <a:pPr/>
            <a:r>
              <a:rPr sz="1700">
                <a:latin typeface="Consolas"/>
              </a:rPr>
              <a:t>• CR-0412 (user logging) is open since 2021 and unfunded; act accordingly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5631"/>
                </a:solidFill>
                <a:latin typeface="Arial"/>
              </a:rPr>
              <a:t>Audit Discipline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latin typeface="Consolas"/>
              </a:rPr>
              <a:t>• Route every auditor request through the liaison</a:t>
            </a:r>
          </a:p>
          <a:p>
            <a:pPr/>
            <a:r>
              <a:rPr sz="1700">
                <a:latin typeface="Consolas"/>
              </a:rPr>
              <a:t>• Log what you pull on the request sheet</a:t>
            </a:r>
          </a:p>
          <a:p>
            <a:pPr/>
            <a:r>
              <a:rPr sz="1700">
                <a:latin typeface="Consolas"/>
              </a:rPr>
              <a:t>• Never reconstruct a file once requested — a thin file is a finding, a rebuilt one is worse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