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5631"/>
                </a:solidFill>
                <a:latin typeface="Palatino Linotype"/>
              </a:rPr>
              <a:t>Resolution 2022-06 — Rate Schedule Amendment</a:t>
            </a:r>
          </a:p>
          <a:p>
            <a:r>
              <a:rPr sz="2000">
                <a:latin typeface="Book Antiqua"/>
              </a:rPr>
              <a:t>Regular meeting of the Board of Harbor Commissioners · 14 June 2022 · Agenda Item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Agenda Item 7 —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Amend the moorage rate schedule of Tariff Resolution 2019-14</a:t>
            </a:r>
          </a:p>
          <a:p>
            <a:pPr/>
            <a:r>
              <a:rPr sz="1700">
                <a:latin typeface="Book Antiqua"/>
              </a:rPr>
              <a:t>• Add section 4.3: documentation standard for vessel-length amendments</a:t>
            </a:r>
          </a:p>
          <a:p>
            <a:pPr/>
            <a:r>
              <a:rPr sz="1700">
                <a:latin typeface="Book Antiqua"/>
              </a:rPr>
              <a:t>• Effective for billing periods beginning 1 August 2022</a:t>
            </a:r>
          </a:p>
          <a:p>
            <a:pPr/>
            <a:r>
              <a:rPr sz="1700">
                <a:latin typeface="Book Antiqua"/>
              </a:rPr>
              <a:t>• Staff recommendation: adopt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Current and Amended Rates (per foot-month)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Covered basins (Ledgport, Vessbank): $9.85 → $10.40 (+5.6%)</a:t>
            </a:r>
          </a:p>
          <a:p>
            <a:pPr/>
            <a:r>
              <a:rPr sz="1700">
                <a:latin typeface="Book Antiqua"/>
              </a:rPr>
              <a:t>• Open basins (Eastwey, Gullwing, Salmonberry): $7.10 → $7.55 (+6.3%)</a:t>
            </a:r>
          </a:p>
          <a:p>
            <a:pPr/>
            <a:r>
              <a:rPr sz="1700">
                <a:latin typeface="Book Antiqua"/>
              </a:rPr>
              <a:t>• Commercial multiplier, prepayment allowance, guest rates unchanged</a:t>
            </a:r>
          </a:p>
          <a:p>
            <a:pPr/>
            <a:r>
              <a:rPr sz="1700">
                <a:latin typeface="Book Antiqua"/>
              </a:rPr>
              <a:t>• Billing basis unchanged: foot-month (length in feet × months billed)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Why Section 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Length amendments can move an applicant across the 40 ft covered limit</a:t>
            </a:r>
          </a:p>
          <a:p>
            <a:pPr/>
            <a:r>
              <a:rPr sz="1700">
                <a:latin typeface="Book Antiqua"/>
              </a:rPr>
              <a:t>• …across a slip-size class, or across a rate breakpoint</a:t>
            </a:r>
          </a:p>
          <a:p>
            <a:pPr/>
            <a:r>
              <a:rPr sz="1700">
                <a:latin typeface="Book Antiqua"/>
              </a:rPr>
              <a:t>• Register currently cannot distinguish a supported amendment from an unsupported one</a:t>
            </a:r>
          </a:p>
          <a:p>
            <a:pPr/>
            <a:r>
              <a:rPr sz="1700">
                <a:latin typeface="Book Antiqua"/>
              </a:rPr>
              <a:t>• Standard: measurement certificate or haul-out record with measurement sheet, on file at entry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Prospective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Section 4.4: standard applies to amendments entered on or after the effective date</a:t>
            </a:r>
          </a:p>
          <a:p>
            <a:pPr/>
            <a:r>
              <a:rPr sz="1700">
                <a:latin typeface="Book Antiqua"/>
              </a:rPr>
              <a:t>• Pre-adoption amendments are not re-opened absent Commission direction</a:t>
            </a:r>
          </a:p>
          <a:p>
            <a:pPr/>
            <a:r>
              <a:rPr sz="1700">
                <a:latin typeface="Book Antiqua"/>
              </a:rPr>
              <a:t>• Answer to Commissioner Pell's question of 24 May confirmed on the record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Systems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Amendment screen logs workstation HB-COUNTER-2 only; shared by nine staff</a:t>
            </a:r>
          </a:p>
          <a:p>
            <a:pPr/>
            <a:r>
              <a:rPr sz="1700">
                <a:latin typeface="Book Antiqua"/>
              </a:rPr>
              <a:t>• CR-0412 (user-identifier logging) open since 2021, unfunded</a:t>
            </a:r>
          </a:p>
          <a:p>
            <a:pPr/>
            <a:r>
              <a:rPr sz="1700">
                <a:latin typeface="Book Antiqua"/>
              </a:rPr>
              <a:t>• Compensating control: Deputy Harbormaster monthly review of register vs. day logs</a:t>
            </a:r>
          </a:p>
          <a:p>
            <a:pPr/>
            <a:r>
              <a:rPr sz="1700">
                <a:latin typeface="Book Antiqua"/>
              </a:rPr>
              <a:t>• CR-0412 to be carried into the 2023 budget with a cost estimate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Fiscal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Approximately $61,000 annualized revenue at current occupancy</a:t>
            </a:r>
          </a:p>
          <a:p>
            <a:pPr/>
            <a:r>
              <a:rPr sz="1700">
                <a:latin typeface="Book Antiqua"/>
              </a:rPr>
              <a:t>• About $44,000 attaches to the covered basins</a:t>
            </a:r>
          </a:p>
          <a:p>
            <a:pPr/>
            <a:r>
              <a:rPr sz="1700">
                <a:latin typeface="Book Antiqua"/>
              </a:rPr>
              <a:t>• Receivables balance not expected to change materially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Public Testimony (24 May / 14 June)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Size of the open-basin adjustment</a:t>
            </a:r>
          </a:p>
          <a:p>
            <a:pPr/>
            <a:r>
              <a:rPr sz="1700">
                <a:latin typeface="Book Antiqua"/>
              </a:rPr>
              <a:t>• Burden of the documentation standard on long-held applicants</a:t>
            </a:r>
          </a:p>
          <a:p>
            <a:pPr/>
            <a:r>
              <a:rPr sz="1700">
                <a:latin typeface="Book Antiqua"/>
              </a:rPr>
              <a:t>• Staff: a valid check-in measurement remains the length of record; the standard attaches only to amendments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MOVED (Barmore) and SECONDED (Laskin): adopt Resolution 2022-06</a:t>
            </a:r>
          </a:p>
          <a:p>
            <a:pPr/>
            <a:r>
              <a:rPr sz="1700">
                <a:latin typeface="Book Antiqua"/>
              </a:rPr>
              <a:t>• AYES: Whitlock, Barmore, Nystrom, Laskin (4)</a:t>
            </a:r>
          </a:p>
          <a:p>
            <a:pPr/>
            <a:r>
              <a:rPr sz="1700">
                <a:latin typeface="Book Antiqua"/>
              </a:rPr>
              <a:t>• NOES: Pell (1)</a:t>
            </a:r>
          </a:p>
          <a:p>
            <a:pPr/>
            <a:r>
              <a:rPr sz="1700">
                <a:latin typeface="Book Antiqua"/>
              </a:rPr>
              <a:t>• Motion carried 4–1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latin typeface="Book Antiqua"/>
              </a:rPr>
              <a:t>Vote recorded in the minutes of 14 June 2022 (CHD-MIN-2022-06-14).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5631"/>
                </a:solidFill>
                <a:latin typeface="Palatino Linotype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Book Antiqua"/>
              </a:rPr>
              <a:t>• Counter forms and training materials revised within 90 days</a:t>
            </a:r>
          </a:p>
          <a:p>
            <a:pPr/>
            <a:r>
              <a:rPr sz="1700">
                <a:latin typeface="Book Antiqua"/>
              </a:rPr>
              <a:t>• Annual report to the Commission on amendments and section 4.3 support</a:t>
            </a:r>
          </a:p>
          <a:p>
            <a:pPr/>
            <a:r>
              <a:rPr sz="1700">
                <a:latin typeface="Book Antiqua"/>
              </a:rPr>
              <a:t>• Measurement certificate form MC-1 adopted for counter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