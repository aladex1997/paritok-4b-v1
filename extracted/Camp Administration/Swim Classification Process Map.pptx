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5631"/>
                </a:solidFill>
              </a:rPr>
              <a:t>KVL Camps - Swim Classification Process Map</a:t>
            </a:r>
          </a:p>
        </p:txBody>
      </p:sp>
      <p:sp>
        <p:nvSpPr>
          <p:cNvPr id="3" name="Chevron 2"/>
          <p:cNvSpPr/>
          <p:nvPr/>
        </p:nvSpPr>
        <p:spPr>
          <a:xfrm>
            <a:off x="274320" y="1280160"/>
            <a:ext cx="1554480" cy="914400"/>
          </a:xfrm>
          <a:prstGeom prst="chevron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900">
                <a:latin typeface="Segoe UI"/>
              </a:rPr>
              <a:t>Camper arrives</a:t>
            </a:r>
          </a:p>
          <a:p>
            <a:r>
              <a:rPr sz="900">
                <a:latin typeface="Segoe UI"/>
              </a:rPr>
              <a:t>(first waterfront day)</a:t>
            </a:r>
          </a:p>
        </p:txBody>
      </p:sp>
      <p:sp>
        <p:nvSpPr>
          <p:cNvPr id="4" name="Chevron 3"/>
          <p:cNvSpPr/>
          <p:nvPr/>
        </p:nvSpPr>
        <p:spPr>
          <a:xfrm>
            <a:off x="1755648" y="1280160"/>
            <a:ext cx="1554480" cy="914400"/>
          </a:xfrm>
          <a:prstGeom prst="chevron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900">
                <a:latin typeface="Segoe UI"/>
              </a:rPr>
              <a:t>Administer band test</a:t>
            </a:r>
          </a:p>
          <a:p>
            <a:r>
              <a:rPr sz="900">
                <a:latin typeface="Segoe UI"/>
              </a:rPr>
              <a:t>(per Test Guide)</a:t>
            </a:r>
          </a:p>
        </p:txBody>
      </p:sp>
      <p:sp>
        <p:nvSpPr>
          <p:cNvPr id="5" name="Chevron 4"/>
          <p:cNvSpPr/>
          <p:nvPr/>
        </p:nvSpPr>
        <p:spPr>
          <a:xfrm>
            <a:off x="3236976" y="1280160"/>
            <a:ext cx="1554480" cy="914400"/>
          </a:xfrm>
          <a:prstGeom prst="chevron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900">
                <a:latin typeface="Segoe UI"/>
              </a:rPr>
              <a:t>Record result on</a:t>
            </a:r>
          </a:p>
          <a:p>
            <a:r>
              <a:rPr sz="900">
                <a:latin typeface="Segoe UI"/>
              </a:rPr>
              <a:t>classification roster</a:t>
            </a:r>
          </a:p>
        </p:txBody>
      </p:sp>
      <p:sp>
        <p:nvSpPr>
          <p:cNvPr id="6" name="Chevron 5"/>
          <p:cNvSpPr/>
          <p:nvPr/>
        </p:nvSpPr>
        <p:spPr>
          <a:xfrm>
            <a:off x="4718304" y="1280160"/>
            <a:ext cx="1554480" cy="914400"/>
          </a:xfrm>
          <a:prstGeom prst="chevron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900">
                <a:latin typeface="Segoe UI"/>
              </a:rPr>
              <a:t>Issue band +</a:t>
            </a:r>
          </a:p>
          <a:p>
            <a:r>
              <a:rPr sz="900">
                <a:latin typeface="Segoe UI"/>
              </a:rPr>
              <a:t>buddy assignment</a:t>
            </a:r>
          </a:p>
        </p:txBody>
      </p:sp>
      <p:sp>
        <p:nvSpPr>
          <p:cNvPr id="7" name="Chevron 6"/>
          <p:cNvSpPr/>
          <p:nvPr/>
        </p:nvSpPr>
        <p:spPr>
          <a:xfrm>
            <a:off x="6199632" y="1280160"/>
            <a:ext cx="1554480" cy="914400"/>
          </a:xfrm>
          <a:prstGeom prst="chevron">
            <a:avLst/>
          </a:prstGeom>
          <a:solidFill>
            <a:srgbClr val="F6E8F6"/>
          </a:solidFill>
          <a:ln w="15240">
            <a:solidFill>
              <a:srgbClr val="4A3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900">
                <a:latin typeface="Segoe UI"/>
              </a:rPr>
              <a:t>Authorized assessor</a:t>
            </a:r>
          </a:p>
          <a:p>
            <a:r>
              <a:rPr sz="900">
                <a:latin typeface="Segoe UI"/>
              </a:rPr>
              <a:t>signs roster block</a:t>
            </a:r>
          </a:p>
        </p:txBody>
      </p:sp>
      <p:sp>
        <p:nvSpPr>
          <p:cNvPr id="8" name="Chevron 7"/>
          <p:cNvSpPr/>
          <p:nvPr/>
        </p:nvSpPr>
        <p:spPr>
          <a:xfrm>
            <a:off x="7680960" y="1280160"/>
            <a:ext cx="1554480" cy="914400"/>
          </a:xfrm>
          <a:prstGeom prst="chevron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900">
                <a:latin typeface="Segoe UI"/>
              </a:rPr>
              <a:t>File under Swim</a:t>
            </a:r>
          </a:p>
          <a:p>
            <a:r>
              <a:rPr sz="900">
                <a:latin typeface="Segoe UI"/>
              </a:rPr>
              <a:t>Classification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Key control: the signature step (highlighted) may be performed only by staff whose credential track the authorization matrix lists as assessment-authorized - WSI, LGI, or LG-WF. The roster holds the classification data and the signature block; the certification file holds each staff member's credentials; the matrix holds the authorization. The three documents are checked against each other at season open and season close under procedure KVL-AQD-PRC-007.</a:t>
            </a:r>
          </a:p>
          <a:p>
            <a:r>
              <a:rPr sz="1100"/>
              <a:t>Retest loop: a camper who fails or wants an upgrade re-enters at the test step; the roster row is updated in place the day of the retest.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737360" y="2240280"/>
            <a:ext cx="3017520" cy="0"/>
          </a:xfrm>
          <a:prstGeom prst="line">
            <a:avLst/>
          </a:prstGeom>
          <a:ln w="17780">
            <a:solidFill>
              <a:srgbClr val="1E56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94560" y="2286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retest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